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84"/>
    <a:srgbClr val="E75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6"/>
    <p:restoredTop sz="94694"/>
  </p:normalViewPr>
  <p:slideViewPr>
    <p:cSldViewPr snapToGrid="0">
      <p:cViewPr varScale="1">
        <p:scale>
          <a:sx n="105" d="100"/>
          <a:sy n="105" d="100"/>
        </p:scale>
        <p:origin x="8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CBEE-CB75-B997-6E30-FFCF39A65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8313"/>
            <a:ext cx="9144000" cy="2218248"/>
          </a:xfrm>
        </p:spPr>
        <p:txBody>
          <a:bodyPr anchor="b"/>
          <a:lstStyle>
            <a:lvl1pPr algn="ctr">
              <a:defRPr sz="6000">
                <a:solidFill>
                  <a:srgbClr val="E75F3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74233-4952-98BF-BCEE-AD0EBC14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4312"/>
            <a:ext cx="9144000" cy="1063487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E75F3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AC2DC-8388-73E7-FAC1-D7B2DBAD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B14-959E-5E4B-A979-575708808617}" type="datetimeFigureOut">
              <a:rPr lang="en-TR" smtClean="0"/>
              <a:t>08/15/2026</a:t>
            </a:fld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98ECF-2B86-4E6F-89C1-E5E71F9C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724EF-FAEB-F744-A383-ACBD7BC106E6}" type="slidenum">
              <a:rPr lang="en-TR" smtClean="0"/>
              <a:t>‹#›</a:t>
            </a:fld>
            <a:endParaRPr lang="en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3E562-AE82-C5B7-30D4-0AE249C485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12946" y="6419892"/>
            <a:ext cx="292072" cy="238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AFCE0A-32B0-AC89-D46F-BCB8CDAE6A85}"/>
              </a:ext>
            </a:extLst>
          </p:cNvPr>
          <p:cNvSpPr txBox="1"/>
          <p:nvPr userDrawn="1"/>
        </p:nvSpPr>
        <p:spPr>
          <a:xfrm>
            <a:off x="5705018" y="6356350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rgbClr val="163884"/>
                </a:solidFill>
              </a:rPr>
              <a:t>#ICETOL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08C4A-05C7-EB3A-6351-7361F87248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1900" y="670968"/>
            <a:ext cx="2651127" cy="867728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62FF51C-479E-06C0-FDC5-D2F9A2F3AD85}"/>
              </a:ext>
            </a:extLst>
          </p:cNvPr>
          <p:cNvSpPr txBox="1">
            <a:spLocks/>
          </p:cNvSpPr>
          <p:nvPr userDrawn="1"/>
        </p:nvSpPr>
        <p:spPr>
          <a:xfrm>
            <a:off x="3916018" y="720349"/>
            <a:ext cx="7174082" cy="10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E75F3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16388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16388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6388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6388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0" i="0">
                <a:solidFill>
                  <a:srgbClr val="163884"/>
                </a:solidFill>
                <a:latin typeface="Montserrat Medium" pitchFamily="2" charset="77"/>
              </a:rPr>
              <a:t>6</a:t>
            </a:r>
            <a:r>
              <a:rPr lang="en-US" sz="1800" b="0" i="0" baseline="30000">
                <a:solidFill>
                  <a:srgbClr val="163884"/>
                </a:solidFill>
                <a:latin typeface="Montserrat Medium" pitchFamily="2" charset="77"/>
              </a:rPr>
              <a:t>th</a:t>
            </a:r>
            <a:r>
              <a:rPr lang="en-US" sz="1800" b="0" i="0">
                <a:solidFill>
                  <a:srgbClr val="163884"/>
                </a:solidFill>
                <a:latin typeface="Montserrat Medium" pitchFamily="2" charset="77"/>
              </a:rPr>
              <a:t> </a:t>
            </a:r>
            <a:r>
              <a:rPr lang="en-US" sz="1800" b="0" i="0" dirty="0">
                <a:solidFill>
                  <a:srgbClr val="163884"/>
                </a:solidFill>
                <a:latin typeface="Montserrat Medium" pitchFamily="2" charset="77"/>
              </a:rPr>
              <a:t>INTERNATIONAL CONFERENCE ON</a:t>
            </a:r>
          </a:p>
          <a:p>
            <a:pPr algn="l"/>
            <a:r>
              <a:rPr lang="en-US" sz="1800" b="0" i="0" dirty="0">
                <a:solidFill>
                  <a:srgbClr val="163884"/>
                </a:solidFill>
                <a:latin typeface="Montserrat Medium" pitchFamily="2" charset="77"/>
              </a:rPr>
              <a:t>EDUCATIONAL TECHNOLOGY AND ONLINE LEARNING</a:t>
            </a:r>
            <a:endParaRPr lang="en-TR" sz="1800" b="0" i="0" dirty="0">
              <a:solidFill>
                <a:srgbClr val="163884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728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19ED-36C2-1A1D-7D35-5248F18D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75F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49EB2-DF80-F1D4-B19B-1181263F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63884"/>
                </a:solidFill>
              </a:defRPr>
            </a:lvl1pPr>
            <a:lvl2pPr>
              <a:defRPr>
                <a:solidFill>
                  <a:srgbClr val="163884"/>
                </a:solidFill>
              </a:defRPr>
            </a:lvl2pPr>
            <a:lvl3pPr>
              <a:defRPr>
                <a:solidFill>
                  <a:srgbClr val="163884"/>
                </a:solidFill>
              </a:defRPr>
            </a:lvl3pPr>
            <a:lvl4pPr>
              <a:defRPr>
                <a:solidFill>
                  <a:srgbClr val="163884"/>
                </a:solidFill>
              </a:defRPr>
            </a:lvl4pPr>
            <a:lvl5pPr>
              <a:defRPr>
                <a:solidFill>
                  <a:srgbClr val="16388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2E8B-977B-985E-5505-DD3F6ECB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63884"/>
                </a:solidFill>
              </a:defRPr>
            </a:lvl1pPr>
          </a:lstStyle>
          <a:p>
            <a:fld id="{71FA5B14-959E-5E4B-A979-575708808617}" type="datetimeFigureOut">
              <a:rPr lang="en-TR" smtClean="0"/>
              <a:pPr/>
              <a:t>08/15/2026</a:t>
            </a:fld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E30DB-7874-A951-EE9B-315F1F98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63884"/>
                </a:solidFill>
              </a:defRPr>
            </a:lvl1pPr>
          </a:lstStyle>
          <a:p>
            <a:fld id="{62A724EF-FAEB-F744-A383-ACBD7BC106E6}" type="slidenum">
              <a:rPr lang="en-TR" smtClean="0"/>
              <a:pPr/>
              <a:t>‹#›</a:t>
            </a:fld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6D2F1-DFD8-DD5A-EE11-C8F7FF0C8A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63991" y="746267"/>
            <a:ext cx="2191014" cy="717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ED33B-CB7E-87B3-90E4-00B5062B4F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12946" y="6419892"/>
            <a:ext cx="292072" cy="238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FD4B48-4B5B-442A-9704-9A3BD849DD86}"/>
              </a:ext>
            </a:extLst>
          </p:cNvPr>
          <p:cNvSpPr txBox="1"/>
          <p:nvPr userDrawn="1"/>
        </p:nvSpPr>
        <p:spPr>
          <a:xfrm>
            <a:off x="5705018" y="6356350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rgbClr val="163884"/>
                </a:solidFill>
              </a:rPr>
              <a:t>#ICETOL</a:t>
            </a:r>
          </a:p>
        </p:txBody>
      </p:sp>
    </p:spTree>
    <p:extLst>
      <p:ext uri="{BB962C8B-B14F-4D97-AF65-F5344CB8AC3E}">
        <p14:creationId xmlns:p14="http://schemas.microsoft.com/office/powerpoint/2010/main" val="72512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20BA-A5F8-266B-22A8-A018BE5F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DC54-151E-9E21-A240-55D3BF536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8533D-7E0C-94D7-7B1B-D500FCDE1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E63C3-2952-8F2C-A058-A78CB760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B14-959E-5E4B-A979-575708808617}" type="datetimeFigureOut">
              <a:rPr lang="en-TR" smtClean="0"/>
              <a:t>08/15/2026</a:t>
            </a:fld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A3094-82CC-4F9F-616E-3EFEB9E2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724EF-FAEB-F744-A383-ACBD7BC106E6}" type="slidenum">
              <a:rPr lang="en-TR" smtClean="0"/>
              <a:t>‹#›</a:t>
            </a:fld>
            <a:endParaRPr lang="en-T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99007-4A44-9B3A-14AA-704DD42081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12946" y="6419892"/>
            <a:ext cx="292072" cy="2380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267F33-F0E2-3968-37C7-C3B7F3A66F99}"/>
              </a:ext>
            </a:extLst>
          </p:cNvPr>
          <p:cNvSpPr txBox="1"/>
          <p:nvPr userDrawn="1"/>
        </p:nvSpPr>
        <p:spPr>
          <a:xfrm>
            <a:off x="5705018" y="6356350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rgbClr val="163884"/>
                </a:solidFill>
              </a:rPr>
              <a:t>#ICETOL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46C141-9E3C-83A3-5C8A-6200DF144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3991" y="746267"/>
            <a:ext cx="2191014" cy="71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0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0147-5AEE-258E-8526-008BBDE0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79C7-FB76-991A-E85C-2012D9CF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B14-959E-5E4B-A979-575708808617}" type="datetimeFigureOut">
              <a:rPr lang="en-TR" smtClean="0"/>
              <a:t>08/15/2026</a:t>
            </a:fld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5F78C-244E-5D58-638F-1E0EF7E8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724EF-FAEB-F744-A383-ACBD7BC106E6}" type="slidenum">
              <a:rPr lang="en-TR" smtClean="0"/>
              <a:t>‹#›</a:t>
            </a:fld>
            <a:endParaRPr lang="en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301FC-EC62-2CEF-4699-EFD895E028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12946" y="6419892"/>
            <a:ext cx="292072" cy="238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BD3632-7AB0-3869-41A0-287AED4C4C28}"/>
              </a:ext>
            </a:extLst>
          </p:cNvPr>
          <p:cNvSpPr txBox="1"/>
          <p:nvPr userDrawn="1"/>
        </p:nvSpPr>
        <p:spPr>
          <a:xfrm>
            <a:off x="5705018" y="6356350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rgbClr val="163884"/>
                </a:solidFill>
              </a:rPr>
              <a:t>#ICETOL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DCB11-D7D0-D55F-D194-5C47852DB8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3991" y="746267"/>
            <a:ext cx="2191014" cy="71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8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773D6-2A51-E461-F90B-20D8F906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B14-959E-5E4B-A979-575708808617}" type="datetimeFigureOut">
              <a:rPr lang="en-TR" smtClean="0"/>
              <a:t>08/15/2026</a:t>
            </a:fld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50E57-5F3D-4BD8-D91E-1C066D2E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724EF-FAEB-F744-A383-ACBD7BC106E6}" type="slidenum">
              <a:rPr lang="en-TR" smtClean="0"/>
              <a:t>‹#›</a:t>
            </a:fld>
            <a:endParaRPr lang="en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C25CE-D016-D8D1-AD5F-61C63ABC5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12946" y="6419892"/>
            <a:ext cx="292072" cy="238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A4F132-3E3B-2946-AF65-36005C3C3FAA}"/>
              </a:ext>
            </a:extLst>
          </p:cNvPr>
          <p:cNvSpPr txBox="1"/>
          <p:nvPr userDrawn="1"/>
        </p:nvSpPr>
        <p:spPr>
          <a:xfrm>
            <a:off x="5705018" y="6356350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rgbClr val="163884"/>
                </a:solidFill>
              </a:rPr>
              <a:t>#ICETOL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09E14-573C-6B3F-83CD-D132CDFD07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3991" y="746267"/>
            <a:ext cx="2191014" cy="71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4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44000-4C49-E787-29FD-F68D5CB8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957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85117-5622-6F14-D4A6-302620D0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44FB1-152C-4573-BD3A-EC2E2E8A3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A5B14-959E-5E4B-A979-575708808617}" type="datetimeFigureOut">
              <a:rPr lang="en-TR" smtClean="0"/>
              <a:t>08/15/2026</a:t>
            </a:fld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A5676-0F62-669A-0C6C-702D53C01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724EF-FAEB-F744-A383-ACBD7BC106E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763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6" r:id="rId3"/>
    <p:sldLayoutId id="2147483808" r:id="rId4"/>
    <p:sldLayoutId id="214748380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75F3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6388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6388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6388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6388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6388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clean_modern_vector_illustration_scene_of_rem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00" y="1485900"/>
            <a:ext cx="4685544" cy="42428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863090"/>
            <a:ext cx="54864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982564"/>
            <a:ext cx="2551176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 i="0" dirty="0">
                <a:solidFill>
                  <a:srgbClr val="F15B2D"/>
                </a:solidFill>
                <a:latin typeface="Aptos"/>
              </a:rPr>
              <a:t>FULL PAPER PR</a:t>
            </a:r>
            <a:r>
              <a:rPr lang="en-US" sz="1000" b="1" i="0" dirty="0">
                <a:solidFill>
                  <a:srgbClr val="F15B2D"/>
                </a:solidFill>
                <a:latin typeface="Aptos"/>
              </a:rPr>
              <a:t>E</a:t>
            </a:r>
            <a:r>
              <a:rPr sz="1000" b="1" i="0" dirty="0">
                <a:solidFill>
                  <a:srgbClr val="F15B2D"/>
                </a:solidFill>
                <a:latin typeface="Aptos"/>
              </a:rPr>
              <a:t>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937760" cy="2057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 dirty="0">
                <a:solidFill>
                  <a:srgbClr val="0C4278"/>
                </a:solidFill>
                <a:latin typeface="Aptos"/>
              </a:rPr>
              <a:t>Enhancing Student
Engagement Using
Generative AI Tools
in Online Learning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36492"/>
            <a:ext cx="48920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1" i="0" dirty="0">
                <a:solidFill>
                  <a:srgbClr val="182D42"/>
                </a:solidFill>
                <a:latin typeface="Aptos"/>
              </a:rPr>
              <a:t>Tanvir Ahmed  •  </a:t>
            </a:r>
            <a:r>
              <a:rPr sz="1150" b="1" i="0" dirty="0" err="1">
                <a:solidFill>
                  <a:srgbClr val="182D42"/>
                </a:solidFill>
                <a:latin typeface="Aptos"/>
              </a:rPr>
              <a:t>Brishty</a:t>
            </a:r>
            <a:r>
              <a:rPr sz="1150" b="1" i="0" dirty="0">
                <a:solidFill>
                  <a:srgbClr val="182D42"/>
                </a:solidFill>
                <a:latin typeface="Aptos"/>
              </a:rPr>
              <a:t> Das  •  Fahima Islam  •  Dr. Afroza Nahar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139946"/>
            <a:ext cx="46634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0" dirty="0">
                <a:solidFill>
                  <a:srgbClr val="4E6578"/>
                </a:solidFill>
                <a:latin typeface="Aptos"/>
              </a:rPr>
              <a:t>Department of Computer Science
American International University-Bangladesh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870448"/>
            <a:ext cx="8046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1" i="0">
                <a:solidFill>
                  <a:srgbClr val="0C4278"/>
                </a:solidFill>
                <a:latin typeface="Aptos"/>
              </a:rPr>
              <a:t>6th International Conference on Educational Technology and Online Learning — ICETOL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2" name="Oval 11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488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Why this study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640080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1554480" cy="347472"/>
          </a:xfrm>
          <a:prstGeom prst="roundRect">
            <a:avLst/>
          </a:prstGeom>
          <a:solidFill>
            <a:srgbClr val="F15B2D"/>
          </a:solidFill>
          <a:ln>
            <a:solidFill>
              <a:srgbClr val="F1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1993392"/>
            <a:ext cx="1554480" cy="1831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5760720" cy="6832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1" i="0" dirty="0">
                <a:solidFill>
                  <a:srgbClr val="0C4278"/>
                </a:solidFill>
                <a:latin typeface="Aptos"/>
              </a:rPr>
              <a:t>Online learning expands access </a:t>
            </a:r>
            <a:r>
              <a:rPr lang="en-US" sz="2100" b="1" i="0" dirty="0">
                <a:solidFill>
                  <a:srgbClr val="0C4278"/>
                </a:solidFill>
                <a:latin typeface="Aptos"/>
              </a:rPr>
              <a:t>-</a:t>
            </a:r>
            <a:r>
              <a:rPr sz="2100" b="1" i="0" dirty="0">
                <a:solidFill>
                  <a:srgbClr val="0C4278"/>
                </a:solidFill>
                <a:latin typeface="Aptos"/>
              </a:rPr>
              <a:t> but engagement can be difficult to sustain.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82D42"/>
                </a:solidFill>
                <a:latin typeface="Aptos"/>
              </a:defRPr>
            </a:pPr>
            <a:r>
              <a:t>• Learners can become passive when digital material lacks interaction.</a:t>
            </a:r>
          </a:p>
          <a:p>
            <a:pPr>
              <a:spcAft>
                <a:spcPts val="700"/>
              </a:spcAft>
              <a:defRPr sz="1550">
                <a:solidFill>
                  <a:srgbClr val="182D42"/>
                </a:solidFill>
                <a:latin typeface="Aptos"/>
              </a:defRPr>
            </a:pPr>
            <a:r>
              <a:t>• Motivation and persistence depend on active engagement with content.</a:t>
            </a:r>
          </a:p>
          <a:p>
            <a:pPr>
              <a:spcAft>
                <a:spcPts val="700"/>
              </a:spcAft>
              <a:defRPr sz="1550">
                <a:solidFill>
                  <a:srgbClr val="182D42"/>
                </a:solidFill>
                <a:latin typeface="Aptos"/>
              </a:defRPr>
            </a:pPr>
            <a:r>
              <a:t>• Generative AI introduces a new layer of interaction, feedback, and personalization.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691640"/>
            <a:ext cx="3977639" cy="406908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1993392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2487168"/>
            <a:ext cx="324612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1" i="0" dirty="0">
                <a:solidFill>
                  <a:srgbClr val="0C4278"/>
                </a:solidFill>
                <a:latin typeface="Aptos"/>
              </a:rPr>
              <a:t>AI support should be
measured </a:t>
            </a:r>
            <a:r>
              <a:rPr lang="en-US" sz="2400" b="1" i="0" dirty="0">
                <a:solidFill>
                  <a:srgbClr val="0C4278"/>
                </a:solidFill>
                <a:latin typeface="Aptos"/>
              </a:rPr>
              <a:t>-</a:t>
            </a:r>
            <a:r>
              <a:rPr sz="2400" b="1" i="0" dirty="0">
                <a:solidFill>
                  <a:srgbClr val="0C4278"/>
                </a:solidFill>
                <a:latin typeface="Aptos"/>
              </a:rPr>
              <a:t> not assumed.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931920"/>
            <a:ext cx="3154680" cy="1051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 i="0">
                <a:solidFill>
                  <a:srgbClr val="4E6578"/>
                </a:solidFill>
                <a:latin typeface="Aptos"/>
              </a:rPr>
              <a:t>This study compares the same learners under traditional and AI-assisted learning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Research gap and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182D42"/>
                </a:solidFill>
                <a:latin typeface="Aptos"/>
              </a:rPr>
              <a:t>The study moves beyond general AI opinions by examining three distinct dimensions of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3172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587752"/>
            <a:ext cx="1417320" cy="347472"/>
          </a:xfrm>
          <a:prstGeom prst="roundRect">
            <a:avLst/>
          </a:prstGeom>
          <a:solidFill>
            <a:srgbClr val="1E6FAD"/>
          </a:solidFill>
          <a:ln>
            <a:solidFill>
              <a:srgbClr val="1E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660904"/>
            <a:ext cx="130759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BEHAVIORAL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182112"/>
            <a:ext cx="28346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0C4278"/>
                </a:solidFill>
                <a:latin typeface="Aptos"/>
              </a:rPr>
              <a:t>Participation
Focus • Task completion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3172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36592" y="2587752"/>
            <a:ext cx="1417320" cy="347472"/>
          </a:xfrm>
          <a:prstGeom prst="roundRect">
            <a:avLst/>
          </a:prstGeom>
          <a:solidFill>
            <a:srgbClr val="F15B2D"/>
          </a:solidFill>
          <a:ln>
            <a:solidFill>
              <a:srgbClr val="F1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670048"/>
            <a:ext cx="130759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EMOTIONAL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82112"/>
            <a:ext cx="28346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0C4278"/>
                </a:solidFill>
                <a:latin typeface="Aptos"/>
              </a:rPr>
              <a:t>Interest
Motivation • Enjoyment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3172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67344" y="2587752"/>
            <a:ext cx="1417320" cy="347472"/>
          </a:xfrm>
          <a:prstGeom prst="roundRect">
            <a:avLst/>
          </a:prstGeom>
          <a:solidFill>
            <a:srgbClr val="2CA4D0"/>
          </a:solidFill>
          <a:ln>
            <a:solidFill>
              <a:srgbClr val="2CA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2660904"/>
            <a:ext cx="130759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COGNITIVE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182112"/>
            <a:ext cx="28346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0C4278"/>
                </a:solidFill>
                <a:latin typeface="Aptos"/>
              </a:rPr>
              <a:t>Understanding
Thinking effort • Learning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92040"/>
            <a:ext cx="10835640" cy="86868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12978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15B2D"/>
                </a:solidFill>
                <a:latin typeface="Aptos"/>
              </a:rPr>
              <a:t>Gap addressed: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1992" y="5084064"/>
            <a:ext cx="8869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 i="0">
                <a:solidFill>
                  <a:srgbClr val="182D42"/>
                </a:solidFill>
                <a:latin typeface="Aptos"/>
              </a:rPr>
              <a:t>a direct within-participant comparison of traditional vs. AI-assisted learning across multiple engagement dimensions.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STUDY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Aim and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10744200" cy="109728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874519"/>
            <a:ext cx="594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15B2D"/>
                </a:solidFill>
                <a:latin typeface="Aptos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10512"/>
            <a:ext cx="932688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C4278"/>
                </a:solidFill>
                <a:latin typeface="Aptos"/>
              </a:rPr>
              <a:t>To examine whether generative AI-assisted learning improves student engagement compared with traditional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63240"/>
            <a:ext cx="340156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F15B2D"/>
                </a:solidFill>
                <a:latin typeface="Aptos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27889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 i="0">
                <a:solidFill>
                  <a:srgbClr val="182D42"/>
                </a:solidFill>
                <a:latin typeface="Aptos"/>
              </a:rPr>
              <a:t>Does AI-assisted learning improve overall engagement?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063240"/>
            <a:ext cx="340156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36592" y="3319272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F15B2D"/>
                </a:solidFill>
                <a:latin typeface="Aptos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886200"/>
            <a:ext cx="27889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 i="0">
                <a:solidFill>
                  <a:srgbClr val="182D42"/>
                </a:solidFill>
                <a:latin typeface="Aptos"/>
              </a:rPr>
              <a:t>Which engagement dimensions improve most?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063240"/>
            <a:ext cx="3401568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3319272"/>
            <a:ext cx="640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F15B2D"/>
                </a:solidFill>
                <a:latin typeface="Aptos"/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886200"/>
            <a:ext cx="27889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 i="0">
                <a:solidFill>
                  <a:srgbClr val="182D42"/>
                </a:solidFill>
                <a:latin typeface="Aptos"/>
              </a:rPr>
              <a:t>How is AI perception associated with AI-assisted engagement?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6400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 i="0">
                <a:solidFill>
                  <a:srgbClr val="0C4278"/>
                </a:solidFill>
                <a:latin typeface="Aptos"/>
              </a:rPr>
              <a:t>Same learners • Same topic • Two learning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Within-subject comparative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965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1938528"/>
            <a:ext cx="566928" cy="566928"/>
          </a:xfrm>
          <a:prstGeom prst="ellipse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093976"/>
            <a:ext cx="56692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24912"/>
            <a:ext cx="1572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 i="0">
                <a:solidFill>
                  <a:srgbClr val="0C4278"/>
                </a:solidFill>
                <a:latin typeface="Aptos"/>
              </a:rPr>
              <a:t>Recruit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600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 i="0">
                <a:solidFill>
                  <a:srgbClr val="4E6578"/>
                </a:solidFill>
                <a:latin typeface="Aptos"/>
              </a:rPr>
              <a:t>Participants</a:t>
            </a:r>
          </a:p>
        </p:txBody>
      </p:sp>
      <p:sp>
        <p:nvSpPr>
          <p:cNvPr id="12" name="Chevron 11"/>
          <p:cNvSpPr/>
          <p:nvPr/>
        </p:nvSpPr>
        <p:spPr>
          <a:xfrm>
            <a:off x="2578608" y="2926080"/>
            <a:ext cx="256032" cy="384048"/>
          </a:xfrm>
          <a:prstGeom prst="chevron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98648" y="2240280"/>
            <a:ext cx="1965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84448" y="1938528"/>
            <a:ext cx="566928" cy="566928"/>
          </a:xfrm>
          <a:prstGeom prst="ellipse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2093976"/>
            <a:ext cx="56692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724912"/>
            <a:ext cx="1572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 i="0">
                <a:solidFill>
                  <a:srgbClr val="0C4278"/>
                </a:solidFill>
                <a:latin typeface="Aptos"/>
              </a:rPr>
              <a:t>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00400"/>
            <a:ext cx="1600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 i="0">
                <a:solidFill>
                  <a:srgbClr val="4E6578"/>
                </a:solidFill>
                <a:latin typeface="Aptos"/>
              </a:rPr>
              <a:t>Learning + assessment</a:t>
            </a:r>
          </a:p>
        </p:txBody>
      </p:sp>
      <p:sp>
        <p:nvSpPr>
          <p:cNvPr id="18" name="Chevron 17"/>
          <p:cNvSpPr/>
          <p:nvPr/>
        </p:nvSpPr>
        <p:spPr>
          <a:xfrm>
            <a:off x="4882896" y="2926080"/>
            <a:ext cx="256032" cy="384048"/>
          </a:xfrm>
          <a:prstGeom prst="chevron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02936" y="2240280"/>
            <a:ext cx="1965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88736" y="1938528"/>
            <a:ext cx="566928" cy="566928"/>
          </a:xfrm>
          <a:prstGeom prst="ellipse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88736" y="2121408"/>
            <a:ext cx="56692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724912"/>
            <a:ext cx="1572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 i="0">
                <a:solidFill>
                  <a:srgbClr val="0C4278"/>
                </a:solidFill>
                <a:latin typeface="Aptos"/>
              </a:rPr>
              <a:t>AI-Assisted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5816" y="3200400"/>
            <a:ext cx="1600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 i="0">
                <a:solidFill>
                  <a:srgbClr val="4E6578"/>
                </a:solidFill>
                <a:latin typeface="Aptos"/>
              </a:rPr>
              <a:t>Learning + assessment</a:t>
            </a:r>
          </a:p>
        </p:txBody>
      </p:sp>
      <p:sp>
        <p:nvSpPr>
          <p:cNvPr id="24" name="Chevron 23"/>
          <p:cNvSpPr/>
          <p:nvPr/>
        </p:nvSpPr>
        <p:spPr>
          <a:xfrm>
            <a:off x="7187184" y="2926080"/>
            <a:ext cx="256032" cy="384048"/>
          </a:xfrm>
          <a:prstGeom prst="chevron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07224" y="2240280"/>
            <a:ext cx="1965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93024" y="1938528"/>
            <a:ext cx="566928" cy="566928"/>
          </a:xfrm>
          <a:prstGeom prst="ellipse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4" y="2103120"/>
            <a:ext cx="56692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724912"/>
            <a:ext cx="1572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 i="0">
                <a:solidFill>
                  <a:srgbClr val="0C4278"/>
                </a:solidFill>
                <a:latin typeface="Aptos"/>
              </a:rPr>
              <a:t>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3200400"/>
            <a:ext cx="1600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 i="0">
                <a:solidFill>
                  <a:srgbClr val="4E6578"/>
                </a:solidFill>
                <a:latin typeface="Aptos"/>
              </a:rPr>
              <a:t>Attention check</a:t>
            </a:r>
          </a:p>
        </p:txBody>
      </p:sp>
      <p:sp>
        <p:nvSpPr>
          <p:cNvPr id="30" name="Chevron 29"/>
          <p:cNvSpPr/>
          <p:nvPr/>
        </p:nvSpPr>
        <p:spPr>
          <a:xfrm>
            <a:off x="9491472" y="2926080"/>
            <a:ext cx="256032" cy="384048"/>
          </a:xfrm>
          <a:prstGeom prst="chevron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11512" y="2240280"/>
            <a:ext cx="19659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97312" y="1938528"/>
            <a:ext cx="566928" cy="566928"/>
          </a:xfrm>
          <a:prstGeom prst="ellipse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97312" y="2093976"/>
            <a:ext cx="56692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724912"/>
            <a:ext cx="1572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 i="0">
                <a:solidFill>
                  <a:srgbClr val="0C4278"/>
                </a:solidFill>
                <a:latin typeface="Aptos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3200400"/>
            <a:ext cx="1600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50" b="0" i="0">
                <a:solidFill>
                  <a:srgbClr val="4E6578"/>
                </a:solidFill>
                <a:latin typeface="Aptos"/>
              </a:rPr>
              <a:t>SPSS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892040"/>
            <a:ext cx="1005840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50" b="1" i="0">
                <a:solidFill>
                  <a:srgbClr val="182D42"/>
                </a:solidFill>
                <a:latin typeface="Aptos"/>
              </a:rPr>
              <a:t>Same participants and same instructional topic enable direct paired comparison while reducing between-person variation.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38" name="Oval 37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Participants and data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1600200"/>
          </a:xfrm>
          <a:prstGeom prst="rect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1E6FAD"/>
                </a:solidFill>
                <a:latin typeface="Aptos"/>
              </a:rPr>
              <a:t>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24327"/>
            <a:ext cx="2834639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Initial form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874519"/>
            <a:ext cx="73152" cy="1600200"/>
          </a:xfrm>
          <a:prstGeom prst="rect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2CA4D0"/>
                </a:solidFill>
                <a:latin typeface="Aptos"/>
              </a:rPr>
              <a:t>289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24327"/>
            <a:ext cx="2834639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Completed study sections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7451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874519"/>
            <a:ext cx="73152" cy="160020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F15B2D"/>
                </a:solidFill>
                <a:latin typeface="Aptos"/>
              </a:rPr>
              <a:t>262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24327"/>
            <a:ext cx="2834639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Final valid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5087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15B2D"/>
                </a:solidFill>
                <a:latin typeface="Aptos"/>
              </a:rPr>
              <a:t>Attention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023360"/>
            <a:ext cx="51206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 i="0">
                <a:solidFill>
                  <a:srgbClr val="0C4278"/>
                </a:solidFill>
                <a:latin typeface="Aptos"/>
              </a:rPr>
              <a:t>“Which learning material included AI assistance?”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730752"/>
            <a:ext cx="29260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3730752"/>
            <a:ext cx="73152" cy="1143000"/>
          </a:xfrm>
          <a:prstGeom prst="rect">
            <a:avLst/>
          </a:prstGeom>
          <a:solidFill>
            <a:srgbClr val="23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913632"/>
            <a:ext cx="2514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238E68"/>
                </a:solidFill>
                <a:latin typeface="Aptos"/>
              </a:rPr>
              <a:t>90.7%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480560"/>
            <a:ext cx="2514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Correctly identified Part 2 as AI-assisted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704088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>
                <a:solidFill>
                  <a:srgbClr val="4E6578"/>
                </a:solidFill>
                <a:latin typeface="Aptos"/>
              </a:rPr>
              <a:t>27 responses with incorrect attention-check answers were excluded before statistical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SAMPLE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Participant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539496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45936" y="1592885"/>
            <a:ext cx="51206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2011680"/>
            <a:ext cx="1353312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 dirty="0">
                <a:solidFill>
                  <a:srgbClr val="0C4278"/>
                </a:solidFill>
                <a:latin typeface="Aptos"/>
              </a:rPr>
              <a:t>Age group</a:t>
            </a:r>
          </a:p>
        </p:txBody>
      </p:sp>
      <p:pic>
        <p:nvPicPr>
          <p:cNvPr id="10" name="Picture 9" descr="s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24" y="2483510"/>
            <a:ext cx="5405497" cy="2273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5454" y="5001768"/>
            <a:ext cx="46634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 dirty="0">
                <a:solidFill>
                  <a:srgbClr val="F15B2D"/>
                </a:solidFill>
                <a:latin typeface="Aptos"/>
              </a:rPr>
              <a:t>Largest group: 24–26 years (46.0%)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8952" y="2011680"/>
            <a:ext cx="18288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 dirty="0">
                <a:solidFill>
                  <a:srgbClr val="0C4278"/>
                </a:solidFill>
                <a:latin typeface="Aptos"/>
              </a:rPr>
              <a:t>Level of study</a:t>
            </a:r>
          </a:p>
        </p:txBody>
      </p:sp>
      <p:pic>
        <p:nvPicPr>
          <p:cNvPr id="13" name="Picture 12" descr="s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754" y="2483510"/>
            <a:ext cx="4905322" cy="22146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01968" y="5001768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 dirty="0">
                <a:solidFill>
                  <a:srgbClr val="F15B2D"/>
                </a:solidFill>
                <a:latin typeface="Aptos"/>
              </a:rPr>
              <a:t>Largest group: postgraduate students (43.3%)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QUESTIONNAIRE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Measurement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76809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182D42"/>
                </a:solidFill>
                <a:latin typeface="Aptos"/>
              </a:rPr>
              <a:t>16 analytical items were measured on a 10-point Likert-type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40156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560320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Traditional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07792"/>
            <a:ext cx="914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1" i="0" dirty="0">
                <a:solidFill>
                  <a:srgbClr val="1E6FAD"/>
                </a:solidFill>
                <a:latin typeface="Aptos"/>
              </a:rPr>
              <a:t>6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03320"/>
            <a:ext cx="2743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Behavioral • Emotional • Cognitive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240280"/>
            <a:ext cx="340156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2560320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AI-assisted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944368"/>
            <a:ext cx="914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1" i="0" dirty="0">
                <a:solidFill>
                  <a:srgbClr val="F15B2D"/>
                </a:solidFill>
                <a:latin typeface="Aptos"/>
              </a:rPr>
              <a:t>6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703320"/>
            <a:ext cx="2743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Behavioral • Emotional • Cognitive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240280"/>
            <a:ext cx="3401568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94776" y="2560320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AI perception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935224"/>
            <a:ext cx="914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1" i="0" dirty="0">
                <a:solidFill>
                  <a:srgbClr val="2CA4D0"/>
                </a:solidFill>
                <a:latin typeface="Aptos"/>
              </a:rPr>
              <a:t>4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703320"/>
            <a:ext cx="27432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Engagement • Speed • Interactivity • Over-reliance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10698480" cy="68580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10241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1" i="0">
                <a:solidFill>
                  <a:srgbClr val="0C4278"/>
                </a:solidFill>
                <a:latin typeface="Aptos"/>
              </a:rPr>
              <a:t>Analysis: Cronbach’s α  •  paired-samples t-tests  •  Cohen’s d  •  Pearson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3" name="Oval 22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Measurement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7772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182D42"/>
                </a:solidFill>
                <a:latin typeface="Aptos"/>
              </a:rPr>
              <a:t>All three constructs demonstrated high internal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73152" cy="1691640"/>
          </a:xfrm>
          <a:prstGeom prst="rect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1E6FAD"/>
                </a:solidFill>
                <a:latin typeface="Aptos"/>
              </a:rPr>
              <a:t>0.915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2834639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Cronbach’s α
Traditional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2402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240280"/>
            <a:ext cx="73152" cy="169164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242316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F15B2D"/>
                </a:solidFill>
                <a:latin typeface="Aptos"/>
              </a:rPr>
              <a:t>0.890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990088"/>
            <a:ext cx="2834639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Cronbach’s α
AI-Assisted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240280"/>
            <a:ext cx="32461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2240280"/>
            <a:ext cx="73152" cy="1691640"/>
          </a:xfrm>
          <a:prstGeom prst="rect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28346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2CA4D0"/>
                </a:solidFill>
                <a:latin typeface="Aptos"/>
              </a:rPr>
              <a:t>0.881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90088"/>
            <a:ext cx="2834639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Cronbach’s α
AI Perception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70248"/>
            <a:ext cx="10698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81728"/>
            <a:ext cx="1508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15B2D"/>
                </a:solidFill>
                <a:latin typeface="Aptos"/>
              </a:rPr>
              <a:t>Descriptive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61772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i="0">
                <a:solidFill>
                  <a:srgbClr val="0C4278"/>
                </a:solidFill>
                <a:latin typeface="Aptos"/>
              </a:rPr>
              <a:t>Traditional: 6.04 ± 1.36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17720"/>
            <a:ext cx="2514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i="0">
                <a:solidFill>
                  <a:srgbClr val="0C4278"/>
                </a:solidFill>
                <a:latin typeface="Aptos"/>
              </a:rPr>
              <a:t>AI-Assisted: 7.51 ± 1.53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617720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i="0">
                <a:solidFill>
                  <a:srgbClr val="0C4278"/>
                </a:solidFill>
                <a:latin typeface="Aptos"/>
              </a:rPr>
              <a:t>AI Perception: 7.70 ± 1.37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6" name="Oval 25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MAIN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Overall engagement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6812280" cy="40507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82880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828800"/>
            <a:ext cx="73152" cy="13258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292607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F15B2D"/>
                </a:solidFill>
                <a:latin typeface="Aptos"/>
              </a:rPr>
              <a:t>+1.46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578608"/>
            <a:ext cx="2926079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Overall mean increase
AI minus traditional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42900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3429000"/>
            <a:ext cx="73152" cy="1325880"/>
          </a:xfrm>
          <a:prstGeom prst="rect">
            <a:avLst/>
          </a:prstGeom>
          <a:solidFill>
            <a:srgbClr val="1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3611880"/>
            <a:ext cx="292607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1E6FAD"/>
                </a:solidFill>
                <a:latin typeface="Aptos"/>
              </a:rPr>
              <a:t>p &lt; 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178808"/>
            <a:ext cx="2926079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Paired-samples t-test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5029200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5029200"/>
            <a:ext cx="73152" cy="1143000"/>
          </a:xfrm>
          <a:prstGeom prst="rect">
            <a:avLst/>
          </a:prstGeom>
          <a:solidFill>
            <a:srgbClr val="23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5212080"/>
            <a:ext cx="292607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 i="0">
                <a:solidFill>
                  <a:srgbClr val="238E68"/>
                </a:solidFill>
                <a:latin typeface="Aptos"/>
              </a:rPr>
              <a:t>d = 0.800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779008"/>
            <a:ext cx="2926079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Large effect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Dimension-wise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9601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50" b="1" i="0">
                <a:solidFill>
                  <a:srgbClr val="182D42"/>
                </a:solidFill>
                <a:latin typeface="Aptos"/>
              </a:rPr>
              <a:t>AI-assisted learning significantly improved all three engagement dimensions (p &lt; .001).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542032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27248"/>
            <a:ext cx="26517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1E6FAD"/>
                </a:solidFill>
                <a:latin typeface="Aptos"/>
              </a:rPr>
              <a:t>+1.68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Largest raw increase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24028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2542032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Emotional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127248"/>
            <a:ext cx="26517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F15B2D"/>
                </a:solidFill>
                <a:latin typeface="Aptos"/>
              </a:rPr>
              <a:t>d = 0.819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840480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Strongest standardized effect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240280"/>
            <a:ext cx="340156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94776" y="2542032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Cognitive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127248"/>
            <a:ext cx="26517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2CA4D0"/>
                </a:solidFill>
                <a:latin typeface="Aptos"/>
              </a:rPr>
              <a:t>+1.26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840480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Moderate-to-large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892040"/>
            <a:ext cx="10698480" cy="82296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10515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15B2D"/>
                </a:solidFill>
                <a:latin typeface="Aptos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074920"/>
            <a:ext cx="8915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 i="0">
                <a:solidFill>
                  <a:srgbClr val="0C4278"/>
                </a:solidFill>
                <a:latin typeface="Aptos"/>
              </a:rPr>
              <a:t>AI support influenced participation, motivation, and learning involvement — not only overall engagement.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AI perception and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806440" cy="2953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03720" y="1783080"/>
            <a:ext cx="434340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0" y="2057400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KEY RELATIONSHIP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542032"/>
            <a:ext cx="23774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 i="0">
                <a:solidFill>
                  <a:srgbClr val="0C4278"/>
                </a:solidFill>
                <a:latin typeface="Aptos"/>
              </a:rPr>
              <a:t>r = .588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54680"/>
            <a:ext cx="3337560" cy="658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0C4278"/>
                </a:solidFill>
                <a:latin typeface="Aptos"/>
              </a:rPr>
              <a:t>AI perception ↔
AI-assisted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005072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 i="0">
                <a:solidFill>
                  <a:srgbClr val="238E68"/>
                </a:solidFill>
                <a:latin typeface="Aptos"/>
              </a:rPr>
              <a:t>p &lt; 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370832"/>
            <a:ext cx="3474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50" b="0" i="0">
                <a:solidFill>
                  <a:srgbClr val="4E6578"/>
                </a:solidFill>
                <a:latin typeface="Aptos"/>
              </a:rPr>
              <a:t>A moderate positive association was observed.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749807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>
                <a:solidFill>
                  <a:srgbClr val="182D42"/>
                </a:solidFill>
                <a:latin typeface="Aptos"/>
              </a:rPr>
              <a:t>Interpretation: correlation indicates association, not causation.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What the findings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ide_clean_modern_illustration_infographic_sc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066" y="1702612"/>
            <a:ext cx="4851086" cy="40074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1645920"/>
            <a:ext cx="525780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965960"/>
            <a:ext cx="4526280" cy="1097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1" i="0">
                <a:solidFill>
                  <a:srgbClr val="0C4278"/>
                </a:solidFill>
                <a:latin typeface="Aptos"/>
              </a:rPr>
              <a:t>Generative AI can make online learning more engaging — when it is integrated as a learning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10128"/>
            <a:ext cx="4434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82D42"/>
                </a:solidFill>
                <a:latin typeface="Aptos"/>
              </a:defRPr>
            </a:pPr>
            <a:r>
              <a:rPr dirty="0"/>
              <a:t>• Support interaction and feedback rather than simply deliver answers.</a:t>
            </a:r>
          </a:p>
          <a:p>
            <a:pPr>
              <a:spcAft>
                <a:spcPts val="700"/>
              </a:spcAft>
              <a:defRPr sz="1450">
                <a:solidFill>
                  <a:srgbClr val="182D42"/>
                </a:solidFill>
                <a:latin typeface="Aptos"/>
              </a:defRPr>
            </a:pPr>
            <a:r>
              <a:rPr dirty="0"/>
              <a:t>• Design activities that keep learners cognitively active.</a:t>
            </a:r>
          </a:p>
          <a:p>
            <a:pPr>
              <a:spcAft>
                <a:spcPts val="700"/>
              </a:spcAft>
              <a:defRPr sz="1450">
                <a:solidFill>
                  <a:srgbClr val="182D42"/>
                </a:solidFill>
                <a:latin typeface="Aptos"/>
              </a:defRPr>
            </a:pPr>
            <a:r>
              <a:rPr dirty="0"/>
              <a:t>• Treat AI as a complement to human thinking, not a replacement for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5285232"/>
            <a:ext cx="1874519" cy="347472"/>
          </a:xfrm>
          <a:prstGeom prst="roundRect">
            <a:avLst/>
          </a:prstGeom>
          <a:solidFill>
            <a:srgbClr val="F15B2D"/>
          </a:solidFill>
          <a:ln>
            <a:solidFill>
              <a:srgbClr val="F1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1" y="5349240"/>
            <a:ext cx="1764791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PRACTICAL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276088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50" b="1" i="0">
                <a:solidFill>
                  <a:srgbClr val="0C4278"/>
                </a:solidFill>
                <a:latin typeface="Aptos"/>
              </a:rPr>
              <a:t>AI works best when humans stay actively involved.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603504"/>
            <a:ext cx="64008" cy="640080"/>
          </a:xfrm>
          <a:prstGeom prst="rect">
            <a:avLst/>
          </a:prstGeom>
          <a:solidFill>
            <a:srgbClr val="F1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F15B2D"/>
                </a:solidFill>
                <a:latin typeface="Aptos"/>
              </a:rPr>
              <a:t>CLOSING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58952"/>
            <a:ext cx="9692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1" i="0">
                <a:solidFill>
                  <a:srgbClr val="0C4278"/>
                </a:solidFill>
                <a:latin typeface="Aptos"/>
              </a:rPr>
              <a:t>Conclusion, 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8368"/>
            <a:ext cx="43891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1" i="0">
                <a:solidFill>
                  <a:srgbClr val="0C4278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35024"/>
            <a:ext cx="10789920" cy="10972"/>
          </a:xfrm>
          <a:prstGeom prst="rect">
            <a:avLst/>
          </a:prstGeom>
          <a:solidFill>
            <a:srgbClr val="CD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50749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4128" y="1920240"/>
            <a:ext cx="1325880" cy="347472"/>
          </a:xfrm>
          <a:prstGeom prst="roundRect">
            <a:avLst/>
          </a:prstGeom>
          <a:solidFill>
            <a:srgbClr val="1E6FAD"/>
          </a:solidFill>
          <a:ln>
            <a:solidFill>
              <a:srgbClr val="1E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993392"/>
            <a:ext cx="121615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50592"/>
            <a:ext cx="438912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C4278"/>
                </a:solidFill>
                <a:latin typeface="Aptos"/>
              </a:rPr>
              <a:t>Generative AI-assisted learning significantly enhanced overall student engagement and improved behavioral, emotional, and cognitive engagement.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886200"/>
            <a:ext cx="4343400" cy="868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0" i="0">
                <a:solidFill>
                  <a:srgbClr val="4E6578"/>
                </a:solidFill>
                <a:latin typeface="Aptos"/>
              </a:rPr>
              <a:t>The strongest evidence is the large overall effect (d = 0.800) and the consistent improvement across all engagement dimensions.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64208"/>
            <a:ext cx="2487168" cy="425196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1417320" cy="347472"/>
          </a:xfrm>
          <a:prstGeom prst="roundRect">
            <a:avLst/>
          </a:prstGeom>
          <a:solidFill>
            <a:srgbClr val="F15B2D"/>
          </a:solidFill>
          <a:ln>
            <a:solidFill>
              <a:srgbClr val="F1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2011680"/>
            <a:ext cx="130759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Self-reported engagement</a:t>
            </a:r>
          </a:p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Fixed order of conditions</a:t>
            </a:r>
          </a:p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Short-term learning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664208"/>
            <a:ext cx="2487168" cy="4251960"/>
          </a:xfrm>
          <a:prstGeom prst="roundRect">
            <a:avLst/>
          </a:prstGeom>
          <a:solidFill>
            <a:srgbClr val="F1F7FB"/>
          </a:solidFill>
          <a:ln w="10160"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1417320" cy="347472"/>
          </a:xfrm>
          <a:prstGeom prst="roundRect">
            <a:avLst/>
          </a:prstGeom>
          <a:solidFill>
            <a:srgbClr val="2CA4D0"/>
          </a:solidFill>
          <a:ln>
            <a:solidFill>
              <a:srgbClr val="2CA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3144" y="1993392"/>
            <a:ext cx="130759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Aptos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Counterbalanced order</a:t>
            </a:r>
          </a:p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Longer-term experiments</a:t>
            </a:r>
          </a:p>
          <a:p>
            <a:pPr>
              <a:spcAft>
                <a:spcPts val="700"/>
              </a:spcAft>
              <a:defRPr sz="1250">
                <a:solidFill>
                  <a:srgbClr val="182D42"/>
                </a:solidFill>
                <a:latin typeface="Aptos"/>
              </a:defRPr>
            </a:pPr>
            <a:r>
              <a:t>• Objective learning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modern_vector_illustration_scene_of_rem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44060"/>
            <a:ext cx="4845492" cy="442580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1481328"/>
            <a:ext cx="54406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2860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1" i="0" dirty="0">
                <a:solidFill>
                  <a:srgbClr val="F15B2D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59152"/>
            <a:ext cx="438912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100" b="1" i="0">
                <a:solidFill>
                  <a:srgbClr val="0C4278"/>
                </a:solidFill>
                <a:latin typeface="Aptos"/>
              </a:rPr>
              <a:t>Questions &amp;
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67328"/>
            <a:ext cx="457200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 i="0">
                <a:solidFill>
                  <a:srgbClr val="182D42"/>
                </a:solidFill>
                <a:latin typeface="Aptos"/>
              </a:rPr>
              <a:t>Enhancing Student Engagement Using Generative AI Tools in Online Learning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36592"/>
            <a:ext cx="47091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1" i="0">
                <a:solidFill>
                  <a:srgbClr val="4E6578"/>
                </a:solidFill>
                <a:latin typeface="Aptos"/>
              </a:rPr>
              <a:t>Tanvir Ahmed  •  Brishty Das  •  Fahima Islam  •  Dr. Afroza Nahar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 i="0">
                <a:solidFill>
                  <a:srgbClr val="0C4278"/>
                </a:solidFill>
                <a:latin typeface="Aptos"/>
              </a:rPr>
              <a:t>ICETOL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73952"/>
            <a:ext cx="6583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750" b="0" i="0">
                <a:solidFill>
                  <a:srgbClr val="4E6578"/>
                </a:solidFill>
                <a:latin typeface="Aptos"/>
              </a:rPr>
              <a:t>ICETOL 2026  •  Generative AI &amp; Student Engagement</a:t>
            </a:r>
          </a:p>
        </p:txBody>
      </p:sp>
      <p:sp>
        <p:nvSpPr>
          <p:cNvPr id="10" name="Oval 9"/>
          <p:cNvSpPr/>
          <p:nvPr/>
        </p:nvSpPr>
        <p:spPr>
          <a:xfrm>
            <a:off x="10927080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82528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37976" y="6492240"/>
            <a:ext cx="50292" cy="50292"/>
          </a:xfrm>
          <a:prstGeom prst="ellipse">
            <a:avLst/>
          </a:prstGeom>
          <a:solidFill>
            <a:srgbClr val="2C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887</Words>
  <Application>Microsoft Office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Serkan Cankaya</dc:creator>
  <cp:lastModifiedBy>TANVIR AHMED</cp:lastModifiedBy>
  <cp:revision>7</cp:revision>
  <dcterms:created xsi:type="dcterms:W3CDTF">2023-06-13T07:56:38Z</dcterms:created>
  <dcterms:modified xsi:type="dcterms:W3CDTF">2026-08-15T16:04:58Z</dcterms:modified>
</cp:coreProperties>
</file>